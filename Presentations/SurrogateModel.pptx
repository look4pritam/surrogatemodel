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8" r:id="rId3"/>
    <p:sldId id="272" r:id="rId4"/>
    <p:sldId id="278" r:id="rId5"/>
    <p:sldId id="279" r:id="rId6"/>
    <p:sldId id="280" r:id="rId7"/>
    <p:sldId id="281" r:id="rId8"/>
    <p:sldId id="282" r:id="rId9"/>
    <p:sldId id="283" r:id="rId10"/>
    <p:sldId id="284" r:id="rId11"/>
    <p:sldId id="285" r:id="rId12"/>
    <p:sldId id="286" r:id="rId13"/>
    <p:sldId id="287" r:id="rId14"/>
    <p:sldId id="269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BFDCCA-FFB9-49F6-B56E-F6432283D67C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FEC5B1-3194-4B6A-BAEE-39D412112D0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9FEDA-6AC3-495C-A467-2B0399D71BB7}" type="datetimeFigureOut">
              <a:rPr lang="en-US" smtClean="0"/>
              <a:pPr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Surrogate Model</a:t>
            </a:r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 fontScale="92500"/>
          </a:bodyPr>
          <a:lstStyle/>
          <a:p>
            <a:r>
              <a:rPr lang="en-US" dirty="0"/>
              <a:t>Pritam Prakash Shete</a:t>
            </a:r>
          </a:p>
          <a:p>
            <a:r>
              <a:rPr lang="en-US" dirty="0"/>
              <a:t>Computer Division, BARC </a:t>
            </a:r>
          </a:p>
          <a:p>
            <a:r>
              <a:rPr lang="en-IN" dirty="0"/>
              <a:t>Centre for Excellence in Basic Sciences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</a:t>
            </a:r>
          </a:p>
          <a:p>
            <a:r>
              <a:rPr lang="en-US" dirty="0"/>
              <a:t>Why Accelerate Simulations?</a:t>
            </a:r>
          </a:p>
          <a:p>
            <a:r>
              <a:rPr lang="en-US" dirty="0"/>
              <a:t>What is Surrogate Modeling?</a:t>
            </a:r>
          </a:p>
          <a:p>
            <a:r>
              <a:rPr lang="en-US" dirty="0"/>
              <a:t>Surrogate Model – Workflow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Engineering design </a:t>
            </a:r>
          </a:p>
          <a:p>
            <a:r>
              <a:rPr lang="en-US" dirty="0"/>
              <a:t>Computer simulations</a:t>
            </a:r>
          </a:p>
          <a:p>
            <a:r>
              <a:rPr lang="en-US" dirty="0"/>
              <a:t>Simulations evaluate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Design parameters</a:t>
            </a:r>
          </a:p>
          <a:p>
            <a:r>
              <a:rPr lang="en-US" dirty="0"/>
              <a:t>Problem</a:t>
            </a:r>
          </a:p>
          <a:p>
            <a:pPr lvl="1"/>
            <a:r>
              <a:rPr lang="en-US" dirty="0"/>
              <a:t>High computational cost</a:t>
            </a:r>
          </a:p>
          <a:p>
            <a:pPr lvl="1"/>
            <a:r>
              <a:rPr lang="en-US" dirty="0"/>
              <a:t>Time consuming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Need faster alternatives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Accelerate Simulations?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Simulations are required for</a:t>
            </a:r>
          </a:p>
          <a:p>
            <a:pPr lvl="1"/>
            <a:r>
              <a:rPr lang="en-US" dirty="0"/>
              <a:t>Sensitivity analysis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Risk analysis</a:t>
            </a:r>
          </a:p>
          <a:p>
            <a:r>
              <a:rPr lang="en-US" dirty="0"/>
              <a:t>Each scenario requires multiple simulation runs</a:t>
            </a:r>
          </a:p>
          <a:p>
            <a:r>
              <a:rPr lang="en-US" dirty="0"/>
              <a:t>Simulation runs  are often</a:t>
            </a:r>
          </a:p>
          <a:p>
            <a:pPr lvl="1"/>
            <a:r>
              <a:rPr lang="en-US" dirty="0"/>
              <a:t>Expensive</a:t>
            </a:r>
          </a:p>
          <a:p>
            <a:pPr lvl="1"/>
            <a:r>
              <a:rPr lang="en-US" dirty="0"/>
              <a:t>Takes days per run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Simulations are accurate but costly and impractical at scale.</a:t>
            </a:r>
          </a:p>
        </p:txBody>
      </p:sp>
    </p:spTree>
    <p:extLst>
      <p:ext uri="{BB962C8B-B14F-4D97-AF65-F5344CB8AC3E}">
        <p14:creationId xmlns:p14="http://schemas.microsoft.com/office/powerpoint/2010/main" val="1073314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Surrogate Modeling?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data driven approximation model</a:t>
            </a:r>
          </a:p>
          <a:p>
            <a:r>
              <a:rPr lang="en-US" dirty="0"/>
              <a:t>Mimics expensive simulations</a:t>
            </a:r>
          </a:p>
          <a:p>
            <a:r>
              <a:rPr lang="en-US" dirty="0"/>
              <a:t>Surrogate model is built using</a:t>
            </a:r>
          </a:p>
          <a:p>
            <a:pPr lvl="1"/>
            <a:r>
              <a:rPr lang="en-US" dirty="0"/>
              <a:t>Input parameters (X)</a:t>
            </a:r>
          </a:p>
          <a:p>
            <a:pPr lvl="1"/>
            <a:r>
              <a:rPr lang="en-US" dirty="0"/>
              <a:t>Simulation outputs (y)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Replaces simulation with a fast predictive model.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165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Key Idea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Run a few simulations</a:t>
            </a:r>
          </a:p>
          <a:p>
            <a:r>
              <a:rPr lang="en-US" dirty="0"/>
              <a:t>Train a statistical or machine learning model</a:t>
            </a:r>
          </a:p>
          <a:p>
            <a:r>
              <a:rPr lang="en-US" dirty="0"/>
              <a:t>Use model for predictions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Surrogate model approximates simulation output and replaces it.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6901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Concept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Inputs </a:t>
            </a:r>
          </a:p>
          <a:p>
            <a:pPr lvl="1"/>
            <a:r>
              <a:rPr lang="en-US" dirty="0"/>
              <a:t>Design parameters (X</a:t>
            </a:r>
            <a:r>
              <a:rPr lang="en-US" baseline="-25000" dirty="0"/>
              <a:t>1</a:t>
            </a:r>
            <a:r>
              <a:rPr lang="en-US" dirty="0"/>
              <a:t>, X</a:t>
            </a:r>
            <a:r>
              <a:rPr lang="en-US" baseline="-25000" dirty="0"/>
              <a:t>2</a:t>
            </a:r>
            <a:r>
              <a:rPr lang="en-US" dirty="0"/>
              <a:t>, …, X</a:t>
            </a:r>
            <a:r>
              <a:rPr lang="en-US" baseline="-25000" dirty="0"/>
              <a:t>n</a:t>
            </a:r>
            <a:r>
              <a:rPr lang="en-US" dirty="0"/>
              <a:t>)</a:t>
            </a:r>
          </a:p>
          <a:p>
            <a:r>
              <a:rPr lang="en-US" dirty="0"/>
              <a:t>Simulation </a:t>
            </a:r>
          </a:p>
          <a:p>
            <a:pPr lvl="1"/>
            <a:r>
              <a:rPr lang="en-US" dirty="0"/>
              <a:t>Expensive  </a:t>
            </a:r>
          </a:p>
          <a:p>
            <a:pPr lvl="1"/>
            <a:r>
              <a:rPr lang="en-US" dirty="0"/>
              <a:t>f(X) = y</a:t>
            </a:r>
          </a:p>
          <a:p>
            <a:r>
              <a:rPr lang="en-US" dirty="0"/>
              <a:t>Surrogate</a:t>
            </a:r>
          </a:p>
          <a:p>
            <a:pPr lvl="1"/>
            <a:r>
              <a:rPr lang="en-US" dirty="0"/>
              <a:t>Learned model </a:t>
            </a:r>
          </a:p>
          <a:p>
            <a:pPr lvl="1"/>
            <a:r>
              <a:rPr lang="en-US" dirty="0"/>
              <a:t>f'(X) ≈ 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Surrogate model is faster, cheaper, and scalable.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719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Benefits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Huge reduction in computation time</a:t>
            </a:r>
          </a:p>
          <a:p>
            <a:r>
              <a:rPr lang="en-US" dirty="0"/>
              <a:t>Real time analysis</a:t>
            </a:r>
          </a:p>
          <a:p>
            <a:r>
              <a:rPr lang="en-US" dirty="0"/>
              <a:t>Large scale optimization</a:t>
            </a:r>
          </a:p>
          <a:p>
            <a:r>
              <a:rPr lang="en-US" dirty="0"/>
              <a:t>Makes expensive tasks affordable</a:t>
            </a:r>
          </a:p>
          <a:p>
            <a:endParaRPr lang="en-US" dirty="0"/>
          </a:p>
          <a:p>
            <a:pPr marL="0" indent="0">
              <a:buNone/>
            </a:pPr>
            <a:endParaRPr lang="en-US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>
                <a:solidFill>
                  <a:srgbClr val="7030A0"/>
                </a:solidFill>
              </a:rPr>
              <a:t>Thousands </a:t>
            </a:r>
            <a:r>
              <a:rPr lang="en-US" dirty="0">
                <a:solidFill>
                  <a:srgbClr val="7030A0"/>
                </a:solidFill>
              </a:rPr>
              <a:t>of evaluations become feasible.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748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Characteristics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</a:t>
            </a:r>
          </a:p>
          <a:p>
            <a:pPr lvl="1"/>
            <a:r>
              <a:rPr lang="en-US" dirty="0"/>
              <a:t>Metamodel</a:t>
            </a:r>
          </a:p>
          <a:p>
            <a:pPr lvl="1"/>
            <a:r>
              <a:rPr lang="en-US" dirty="0"/>
              <a:t>Emulator</a:t>
            </a:r>
          </a:p>
          <a:p>
            <a:r>
              <a:rPr lang="en-US" dirty="0"/>
              <a:t>Built using sampled data</a:t>
            </a:r>
          </a:p>
          <a:p>
            <a:r>
              <a:rPr lang="en-US" dirty="0"/>
              <a:t>Requires:</a:t>
            </a:r>
          </a:p>
          <a:p>
            <a:pPr lvl="1"/>
            <a:r>
              <a:rPr lang="en-US" dirty="0"/>
              <a:t>Careful data collection</a:t>
            </a:r>
          </a:p>
          <a:p>
            <a:pPr lvl="1"/>
            <a:r>
              <a:rPr lang="en-US" dirty="0"/>
              <a:t>Model validation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7000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Workflow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Sampling – Design of Experiments</a:t>
            </a:r>
          </a:p>
          <a:p>
            <a:r>
              <a:rPr lang="en-US" dirty="0"/>
              <a:t>Run simulations</a:t>
            </a:r>
          </a:p>
          <a:p>
            <a:r>
              <a:rPr lang="en-US" dirty="0"/>
              <a:t>Train surrogate model</a:t>
            </a:r>
          </a:p>
          <a:p>
            <a:r>
              <a:rPr lang="en-US" dirty="0"/>
              <a:t>Improve using active learning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914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Sampling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Select input points carefully</a:t>
            </a:r>
          </a:p>
          <a:p>
            <a:r>
              <a:rPr lang="en-US" dirty="0"/>
              <a:t>Goal</a:t>
            </a:r>
          </a:p>
          <a:p>
            <a:pPr lvl="1"/>
            <a:r>
              <a:rPr lang="en-US" dirty="0"/>
              <a:t>Cover entire parameter space</a:t>
            </a:r>
          </a:p>
          <a:p>
            <a:r>
              <a:rPr lang="en-US" dirty="0"/>
              <a:t>Technique</a:t>
            </a:r>
          </a:p>
          <a:p>
            <a:pPr lvl="1"/>
            <a:r>
              <a:rPr lang="en-US" dirty="0"/>
              <a:t>Latin Hypercube Sampling</a:t>
            </a:r>
          </a:p>
          <a:p>
            <a:r>
              <a:rPr lang="en-US" dirty="0"/>
              <a:t>Ensure representative dataset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846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Surrogate Model – Simulations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Run simulations for selected inputs</a:t>
            </a:r>
          </a:p>
          <a:p>
            <a:r>
              <a:rPr lang="en-US" dirty="0"/>
              <a:t>Collect</a:t>
            </a:r>
          </a:p>
          <a:p>
            <a:pPr lvl="1"/>
            <a:r>
              <a:rPr lang="en-US" dirty="0"/>
              <a:t>Input and Output pairs (X, y)</a:t>
            </a:r>
          </a:p>
          <a:p>
            <a:r>
              <a:rPr lang="en-US" dirty="0"/>
              <a:t>Simulation dataset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19490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Surrogate Model – Model Construction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Train Machine Learning model on dataset</a:t>
            </a:r>
          </a:p>
          <a:p>
            <a:r>
              <a:rPr lang="en-US" dirty="0"/>
              <a:t>Use</a:t>
            </a:r>
          </a:p>
          <a:p>
            <a:pPr lvl="1"/>
            <a:r>
              <a:rPr lang="en-US" dirty="0"/>
              <a:t>Validation</a:t>
            </a:r>
          </a:p>
          <a:p>
            <a:pPr lvl="1"/>
            <a:r>
              <a:rPr lang="en-US" dirty="0"/>
              <a:t>Model selection</a:t>
            </a:r>
          </a:p>
          <a:p>
            <a:r>
              <a:rPr lang="en-US" dirty="0"/>
              <a:t>Improve using</a:t>
            </a:r>
          </a:p>
          <a:p>
            <a:pPr lvl="1"/>
            <a:r>
              <a:rPr lang="en-US" dirty="0"/>
              <a:t>Bagging</a:t>
            </a:r>
          </a:p>
          <a:p>
            <a:pPr lvl="1"/>
            <a:r>
              <a:rPr lang="en-US"/>
              <a:t>Boosting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0710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2200</TotalTime>
  <Words>320</Words>
  <Application>Microsoft Office PowerPoint</Application>
  <PresentationFormat>On-screen Show (4:3)</PresentationFormat>
  <Paragraphs>101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Surrogate Model</vt:lpstr>
      <vt:lpstr>Topics</vt:lpstr>
      <vt:lpstr>Introduction</vt:lpstr>
      <vt:lpstr>Why Accelerate Simulations?</vt:lpstr>
      <vt:lpstr>What is Surrogate Modeling?</vt:lpstr>
      <vt:lpstr>Surrogate Model – Key Idea</vt:lpstr>
      <vt:lpstr>Surrogate Model – Concept</vt:lpstr>
      <vt:lpstr>Surrogate Model – Benefits</vt:lpstr>
      <vt:lpstr>Surrogate Model – Characteristics</vt:lpstr>
      <vt:lpstr>Surrogate Model – Workflow</vt:lpstr>
      <vt:lpstr>Surrogate Model – Sampling</vt:lpstr>
      <vt:lpstr>Surrogate Model – Simulations</vt:lpstr>
      <vt:lpstr>Surrogate Model – Model Construction</vt:lpstr>
      <vt:lpstr>Questions?</vt:lpstr>
    </vt:vector>
  </TitlesOfParts>
  <Company>BARC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Convolutional Neural Networks</dc:title>
  <dc:creator>Pritam Prakash Shete</dc:creator>
  <cp:lastModifiedBy>BARC</cp:lastModifiedBy>
  <cp:revision>1414</cp:revision>
  <dcterms:created xsi:type="dcterms:W3CDTF">2019-02-01T20:19:40Z</dcterms:created>
  <dcterms:modified xsi:type="dcterms:W3CDTF">2026-04-16T07:57:22Z</dcterms:modified>
</cp:coreProperties>
</file>