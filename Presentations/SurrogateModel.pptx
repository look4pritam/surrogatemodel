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8" r:id="rId3"/>
    <p:sldId id="272" r:id="rId4"/>
    <p:sldId id="278" r:id="rId5"/>
    <p:sldId id="279" r:id="rId6"/>
    <p:sldId id="293" r:id="rId7"/>
    <p:sldId id="282" r:id="rId8"/>
    <p:sldId id="280" r:id="rId9"/>
    <p:sldId id="281" r:id="rId10"/>
    <p:sldId id="283" r:id="rId11"/>
    <p:sldId id="284" r:id="rId12"/>
    <p:sldId id="29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FDCCA-FFB9-49F6-B56E-F6432283D67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EC5B1-3194-4B6A-BAEE-39D412112D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9FEDA-6AC3-495C-A467-2B0399D71BB7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21A9-B3E8-4DA2-B6B5-03B18401B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Surrogate Model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dirty="0"/>
              <a:t>Pritam Prakash Shete</a:t>
            </a:r>
          </a:p>
          <a:p>
            <a:r>
              <a:rPr lang="en-US" dirty="0"/>
              <a:t>Computer Division, BARC </a:t>
            </a:r>
          </a:p>
          <a:p>
            <a:r>
              <a:rPr lang="en-IN" dirty="0"/>
              <a:t>Centre for Excellence in Basic Sciences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Computer Simulations</a:t>
            </a:r>
          </a:p>
          <a:p>
            <a:r>
              <a:rPr lang="en-US" dirty="0"/>
              <a:t>Surrogate Model – What?</a:t>
            </a:r>
          </a:p>
          <a:p>
            <a:r>
              <a:rPr lang="en-US" dirty="0"/>
              <a:t>Surrogate Model – Why?</a:t>
            </a:r>
          </a:p>
          <a:p>
            <a:r>
              <a:rPr lang="en-US" dirty="0"/>
              <a:t>Surrogate Model – Advantages</a:t>
            </a:r>
          </a:p>
          <a:p>
            <a:r>
              <a:rPr lang="en-US" dirty="0"/>
              <a:t>Surrogate Model – How?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Engineering design </a:t>
            </a:r>
          </a:p>
          <a:p>
            <a:r>
              <a:rPr lang="en-US" dirty="0"/>
              <a:t>Computer simulations</a:t>
            </a:r>
          </a:p>
          <a:p>
            <a:r>
              <a:rPr lang="en-US" dirty="0"/>
              <a:t>Simulations evaluate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Design parameters</a:t>
            </a:r>
          </a:p>
          <a:p>
            <a:r>
              <a:rPr lang="en-US" dirty="0"/>
              <a:t>Problem</a:t>
            </a:r>
          </a:p>
          <a:p>
            <a:pPr lvl="1"/>
            <a:r>
              <a:rPr lang="en-US" dirty="0"/>
              <a:t>High computational cost</a:t>
            </a:r>
          </a:p>
          <a:p>
            <a:pPr lvl="1"/>
            <a:r>
              <a:rPr lang="en-US" dirty="0"/>
              <a:t>Time consuming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Need faster alternatives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Simulations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Simulations are required for</a:t>
            </a:r>
          </a:p>
          <a:p>
            <a:pPr lvl="1"/>
            <a:r>
              <a:rPr lang="en-US" dirty="0"/>
              <a:t>Sensitivity analysis</a:t>
            </a:r>
          </a:p>
          <a:p>
            <a:pPr lvl="1"/>
            <a:r>
              <a:rPr lang="en-US" dirty="0"/>
              <a:t>Optimization</a:t>
            </a:r>
          </a:p>
          <a:p>
            <a:pPr lvl="1"/>
            <a:r>
              <a:rPr lang="en-US" dirty="0"/>
              <a:t>Risk analysis</a:t>
            </a:r>
          </a:p>
          <a:p>
            <a:r>
              <a:rPr lang="en-US" dirty="0"/>
              <a:t>Each scenario requires multiple simulation runs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Computer simulations are accurate.</a:t>
            </a:r>
          </a:p>
        </p:txBody>
      </p:sp>
    </p:spTree>
    <p:extLst>
      <p:ext uri="{BB962C8B-B14F-4D97-AF65-F5344CB8AC3E}">
        <p14:creationId xmlns:p14="http://schemas.microsoft.com/office/powerpoint/2010/main" val="107331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- What?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data driven approximation model</a:t>
            </a:r>
          </a:p>
          <a:p>
            <a:r>
              <a:rPr lang="en-US" dirty="0"/>
              <a:t>Mimics expensive simulations</a:t>
            </a:r>
          </a:p>
          <a:p>
            <a:r>
              <a:rPr lang="en-US" dirty="0"/>
              <a:t>Surrogate model is built using</a:t>
            </a:r>
          </a:p>
          <a:p>
            <a:pPr lvl="1"/>
            <a:r>
              <a:rPr lang="en-US" dirty="0"/>
              <a:t>Input parameters (X)</a:t>
            </a:r>
          </a:p>
          <a:p>
            <a:pPr lvl="1"/>
            <a:r>
              <a:rPr lang="en-US" dirty="0"/>
              <a:t>Simulation outputs (y)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Replaces simulation with a fast predictive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- Why?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 runs  are often</a:t>
            </a:r>
          </a:p>
          <a:p>
            <a:pPr lvl="1"/>
            <a:r>
              <a:rPr lang="en-US" dirty="0"/>
              <a:t>Expensive</a:t>
            </a:r>
          </a:p>
          <a:p>
            <a:pPr lvl="1"/>
            <a:r>
              <a:rPr lang="en-US" dirty="0"/>
              <a:t>Takes days per run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Computer simulations are costly and impractical at scale.</a:t>
            </a:r>
          </a:p>
        </p:txBody>
      </p:sp>
    </p:spTree>
    <p:extLst>
      <p:ext uri="{BB962C8B-B14F-4D97-AF65-F5344CB8AC3E}">
        <p14:creationId xmlns:p14="http://schemas.microsoft.com/office/powerpoint/2010/main" val="91334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Huge reduction in computation time</a:t>
            </a:r>
          </a:p>
          <a:p>
            <a:r>
              <a:rPr lang="en-US" dirty="0"/>
              <a:t>Real time analysis</a:t>
            </a:r>
          </a:p>
          <a:p>
            <a:r>
              <a:rPr lang="en-US" dirty="0"/>
              <a:t>Large scale optimization</a:t>
            </a:r>
          </a:p>
          <a:p>
            <a:r>
              <a:rPr lang="en-US" dirty="0"/>
              <a:t>Makes expensive tasks affordable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Thousands of evaluations become feasible.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38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How?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a few simulations</a:t>
            </a:r>
          </a:p>
          <a:p>
            <a:r>
              <a:rPr lang="en-US" dirty="0"/>
              <a:t>Train a statistical or machine learning model</a:t>
            </a:r>
          </a:p>
          <a:p>
            <a:r>
              <a:rPr lang="en-US" dirty="0"/>
              <a:t>Use model for predictions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Surrogate model approximates simulation output and replaces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90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How?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Inputs </a:t>
            </a:r>
          </a:p>
          <a:p>
            <a:pPr lvl="1"/>
            <a:r>
              <a:rPr lang="en-US" dirty="0"/>
              <a:t>Design parameters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X</a:t>
            </a:r>
            <a:r>
              <a:rPr lang="en-US" baseline="-25000" dirty="0"/>
              <a:t>n</a:t>
            </a:r>
            <a:r>
              <a:rPr lang="en-US" dirty="0"/>
              <a:t>)</a:t>
            </a:r>
          </a:p>
          <a:p>
            <a:r>
              <a:rPr lang="en-US" dirty="0"/>
              <a:t>Simulation </a:t>
            </a:r>
          </a:p>
          <a:p>
            <a:pPr lvl="1"/>
            <a:r>
              <a:rPr lang="en-US" dirty="0"/>
              <a:t>Expensive  </a:t>
            </a:r>
          </a:p>
          <a:p>
            <a:pPr lvl="1"/>
            <a:r>
              <a:rPr lang="en-US" dirty="0"/>
              <a:t>f(X) = y</a:t>
            </a:r>
          </a:p>
          <a:p>
            <a:r>
              <a:rPr lang="en-US" dirty="0"/>
              <a:t>Surrogate</a:t>
            </a:r>
          </a:p>
          <a:p>
            <a:pPr lvl="1"/>
            <a:r>
              <a:rPr lang="en-US" dirty="0"/>
              <a:t>Learned model </a:t>
            </a:r>
          </a:p>
          <a:p>
            <a:pPr lvl="1"/>
            <a:r>
              <a:rPr lang="en-US" dirty="0"/>
              <a:t>f'(X) ≈ 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Surrogate model is faster, cheaper, and scalable.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71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Characteristics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</a:t>
            </a:r>
          </a:p>
          <a:p>
            <a:pPr lvl="1"/>
            <a:r>
              <a:rPr lang="en-US" dirty="0"/>
              <a:t>Metamodel</a:t>
            </a:r>
          </a:p>
          <a:p>
            <a:pPr lvl="1"/>
            <a:r>
              <a:rPr lang="en-US" dirty="0"/>
              <a:t>Emulator</a:t>
            </a:r>
          </a:p>
          <a:p>
            <a:r>
              <a:rPr lang="en-US" dirty="0"/>
              <a:t>Built using sampled data</a:t>
            </a:r>
          </a:p>
          <a:p>
            <a:r>
              <a:rPr lang="en-US" dirty="0"/>
              <a:t>Requires:</a:t>
            </a:r>
          </a:p>
          <a:p>
            <a:pPr lvl="1"/>
            <a:r>
              <a:rPr lang="en-US" dirty="0"/>
              <a:t>Careful data collection</a:t>
            </a:r>
          </a:p>
          <a:p>
            <a:pPr lvl="1"/>
            <a:r>
              <a:rPr lang="en-US" dirty="0"/>
              <a:t>Model validation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00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How?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Sampling – Design of Experiments</a:t>
            </a:r>
          </a:p>
          <a:p>
            <a:r>
              <a:rPr lang="en-US" dirty="0"/>
              <a:t>Run simulations</a:t>
            </a:r>
          </a:p>
          <a:p>
            <a:r>
              <a:rPr lang="en-US" dirty="0"/>
              <a:t>Train surrogate model</a:t>
            </a:r>
          </a:p>
          <a:p>
            <a:r>
              <a:rPr lang="en-US" dirty="0"/>
              <a:t>Improve using active learning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9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How?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B0715C-35E3-99BD-BA22-BB2A7D476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944" y="1676400"/>
            <a:ext cx="4710112" cy="4498061"/>
          </a:xfrm>
          <a:prstGeom prst="rect">
            <a:avLst/>
          </a:prstGeom>
        </p:spPr>
      </p:pic>
      <p:sp>
        <p:nvSpPr>
          <p:cNvPr id="8" name="Text Box 10">
            <a:extLst>
              <a:ext uri="{FF2B5EF4-FFF2-40B4-BE49-F238E27FC236}">
                <a16:creationId xmlns:a16="http://schemas.microsoft.com/office/drawing/2014/main" id="{3DACA9D7-C988-5915-2951-F002D076556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0" y="6519446"/>
            <a:ext cx="1828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solidFill>
                  <a:srgbClr val="FF0000"/>
                </a:solidFill>
              </a:rPr>
              <a:t>Image </a:t>
            </a:r>
            <a:r>
              <a:rPr lang="en-US" sz="1600" b="1" dirty="0" err="1">
                <a:solidFill>
                  <a:srgbClr val="FF0000"/>
                </a:solidFill>
              </a:rPr>
              <a:t>ack</a:t>
            </a:r>
            <a:r>
              <a:rPr lang="en-US" sz="1600" b="1" dirty="0">
                <a:solidFill>
                  <a:srgbClr val="FF0000"/>
                </a:solidFill>
              </a:rPr>
              <a:t> – Google</a:t>
            </a:r>
          </a:p>
        </p:txBody>
      </p:sp>
    </p:spTree>
    <p:extLst>
      <p:ext uri="{BB962C8B-B14F-4D97-AF65-F5344CB8AC3E}">
        <p14:creationId xmlns:p14="http://schemas.microsoft.com/office/powerpoint/2010/main" val="7271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Sampling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input points carefully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Cover entire parameter space</a:t>
            </a:r>
          </a:p>
          <a:p>
            <a:r>
              <a:rPr lang="en-US" dirty="0"/>
              <a:t>Ensure representative dataset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84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Simulations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simulations for selected inputs</a:t>
            </a:r>
          </a:p>
          <a:p>
            <a:r>
              <a:rPr lang="en-US" dirty="0"/>
              <a:t>Collect</a:t>
            </a:r>
          </a:p>
          <a:p>
            <a:pPr lvl="1"/>
            <a:r>
              <a:rPr lang="en-US" dirty="0"/>
              <a:t>Input and Output pairs (X, y)</a:t>
            </a:r>
          </a:p>
          <a:p>
            <a:r>
              <a:rPr lang="en-US" dirty="0"/>
              <a:t>Simulation dataset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49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Surrogate Model – Model Construction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 Machine Learning model on dataset</a:t>
            </a:r>
          </a:p>
          <a:p>
            <a:r>
              <a:rPr lang="en-US" dirty="0"/>
              <a:t>Use</a:t>
            </a:r>
          </a:p>
          <a:p>
            <a:pPr lvl="1"/>
            <a:r>
              <a:rPr lang="en-US" dirty="0"/>
              <a:t>Validation</a:t>
            </a:r>
          </a:p>
          <a:p>
            <a:pPr lvl="1"/>
            <a:r>
              <a:rPr lang="en-US" dirty="0"/>
              <a:t>Model selection</a:t>
            </a:r>
          </a:p>
          <a:p>
            <a:r>
              <a:rPr lang="en-US" dirty="0"/>
              <a:t>Improve using</a:t>
            </a:r>
          </a:p>
          <a:p>
            <a:pPr lvl="1"/>
            <a:r>
              <a:rPr lang="en-US" dirty="0"/>
              <a:t>Bagging</a:t>
            </a:r>
          </a:p>
          <a:p>
            <a:pPr lvl="1"/>
            <a:r>
              <a:rPr lang="en-US"/>
              <a:t>Boosting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710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Active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Add new samples iteratively</a:t>
            </a:r>
          </a:p>
          <a:p>
            <a:r>
              <a:rPr lang="en-US" dirty="0"/>
              <a:t>Focus on</a:t>
            </a:r>
          </a:p>
          <a:p>
            <a:pPr lvl="1"/>
            <a:r>
              <a:rPr lang="en-US" dirty="0"/>
              <a:t>Uncertain regions</a:t>
            </a:r>
          </a:p>
          <a:p>
            <a:pPr lvl="1"/>
            <a:r>
              <a:rPr lang="en-US" dirty="0"/>
              <a:t>Optimum zones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Model improves progressively</a:t>
            </a:r>
          </a:p>
        </p:txBody>
      </p:sp>
    </p:spTree>
    <p:extLst>
      <p:ext uri="{BB962C8B-B14F-4D97-AF65-F5344CB8AC3E}">
        <p14:creationId xmlns:p14="http://schemas.microsoft.com/office/powerpoint/2010/main" val="2205157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Surrogate Model – Dataset Enrichment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new simulation results</a:t>
            </a:r>
          </a:p>
          <a:p>
            <a:r>
              <a:rPr lang="en-US" dirty="0"/>
              <a:t>Retrain model</a:t>
            </a:r>
          </a:p>
          <a:p>
            <a:r>
              <a:rPr lang="en-US" dirty="0"/>
              <a:t>Repeat until</a:t>
            </a:r>
          </a:p>
          <a:p>
            <a:pPr lvl="1"/>
            <a:r>
              <a:rPr lang="en-US" dirty="0"/>
              <a:t>Desired accuracy achieved</a:t>
            </a:r>
          </a:p>
        </p:txBody>
      </p:sp>
    </p:spTree>
    <p:extLst>
      <p:ext uri="{BB962C8B-B14F-4D97-AF65-F5344CB8AC3E}">
        <p14:creationId xmlns:p14="http://schemas.microsoft.com/office/powerpoint/2010/main" val="166702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– Takeaways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Simulations are expensive but essential</a:t>
            </a:r>
          </a:p>
          <a:p>
            <a:r>
              <a:rPr lang="en-US" dirty="0"/>
              <a:t>Surrogate models</a:t>
            </a:r>
          </a:p>
          <a:p>
            <a:pPr lvl="1"/>
            <a:r>
              <a:rPr lang="en-US" dirty="0"/>
              <a:t>Approximate simulations</a:t>
            </a:r>
          </a:p>
          <a:p>
            <a:pPr lvl="1"/>
            <a:r>
              <a:rPr lang="en-US" dirty="0"/>
              <a:t>Reduce cost drastically</a:t>
            </a:r>
          </a:p>
          <a:p>
            <a:r>
              <a:rPr lang="en-US" dirty="0"/>
              <a:t>Based on</a:t>
            </a:r>
          </a:p>
          <a:p>
            <a:pPr lvl="1"/>
            <a:r>
              <a:rPr lang="en-US" dirty="0"/>
              <a:t>Machine learning</a:t>
            </a:r>
          </a:p>
          <a:p>
            <a:pPr lvl="1"/>
            <a:r>
              <a:rPr lang="en-US" dirty="0"/>
              <a:t>Active learning</a:t>
            </a:r>
          </a:p>
          <a:p>
            <a:r>
              <a:rPr lang="en-US" dirty="0"/>
              <a:t>Enable</a:t>
            </a:r>
          </a:p>
          <a:p>
            <a:pPr lvl="1"/>
            <a:r>
              <a:rPr lang="en-US" dirty="0"/>
              <a:t>Faster design cycles</a:t>
            </a:r>
          </a:p>
        </p:txBody>
      </p:sp>
    </p:spTree>
    <p:extLst>
      <p:ext uri="{BB962C8B-B14F-4D97-AF65-F5344CB8AC3E}">
        <p14:creationId xmlns:p14="http://schemas.microsoft.com/office/powerpoint/2010/main" val="4042477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Aerospace design</a:t>
            </a:r>
          </a:p>
          <a:p>
            <a:r>
              <a:rPr lang="en-US" dirty="0"/>
              <a:t>Automotive engineering</a:t>
            </a:r>
          </a:p>
          <a:p>
            <a:r>
              <a:rPr lang="en-US" dirty="0"/>
              <a:t>Product optimization</a:t>
            </a:r>
          </a:p>
          <a:p>
            <a:r>
              <a:rPr lang="en-US" dirty="0"/>
              <a:t>Risk analysis</a:t>
            </a:r>
          </a:p>
          <a:p>
            <a:r>
              <a:rPr lang="en-US" dirty="0"/>
              <a:t>Scientific computing</a:t>
            </a:r>
          </a:p>
        </p:txBody>
      </p:sp>
    </p:spTree>
    <p:extLst>
      <p:ext uri="{BB962C8B-B14F-4D97-AF65-F5344CB8AC3E}">
        <p14:creationId xmlns:p14="http://schemas.microsoft.com/office/powerpoint/2010/main" val="228569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Surrogate model bridges</a:t>
            </a:r>
          </a:p>
          <a:p>
            <a:pPr lvl="1"/>
            <a:r>
              <a:rPr lang="en-US" dirty="0"/>
              <a:t>Simulation and Machine Learning</a:t>
            </a:r>
          </a:p>
          <a:p>
            <a:r>
              <a:rPr lang="en-US" dirty="0"/>
              <a:t>Critical for</a:t>
            </a:r>
          </a:p>
          <a:p>
            <a:pPr lvl="1"/>
            <a:r>
              <a:rPr lang="en-US" dirty="0"/>
              <a:t>Modern engineering design</a:t>
            </a:r>
          </a:p>
          <a:p>
            <a:pPr lvl="1"/>
            <a:r>
              <a:rPr lang="en-US" dirty="0"/>
              <a:t>High performance computing problems</a:t>
            </a:r>
          </a:p>
          <a:p>
            <a:r>
              <a:rPr lang="en-US" dirty="0"/>
              <a:t>Surrogate model – Speed and Scalability</a:t>
            </a:r>
          </a:p>
          <a:p>
            <a:r>
              <a:rPr lang="en-US" dirty="0"/>
              <a:t>Enable real time decision making</a:t>
            </a:r>
          </a:p>
          <a:p>
            <a:r>
              <a:rPr lang="en-US" dirty="0"/>
              <a:t>Essential for modern AI-driven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22653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448</Words>
  <Application>Microsoft Office PowerPoint</Application>
  <PresentationFormat>On-screen Show (4:3)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Surrogate Model</vt:lpstr>
      <vt:lpstr>Topics</vt:lpstr>
      <vt:lpstr>Introduction</vt:lpstr>
      <vt:lpstr>Computer Simulations</vt:lpstr>
      <vt:lpstr>Surrogate Model - What?</vt:lpstr>
      <vt:lpstr>Surrogate Model - Why?</vt:lpstr>
      <vt:lpstr>Surrogate Model – Advantages</vt:lpstr>
      <vt:lpstr>Surrogate Model – How?</vt:lpstr>
      <vt:lpstr>Surrogate Model – How?</vt:lpstr>
      <vt:lpstr>Surrogate Model – Characteristics</vt:lpstr>
      <vt:lpstr>Surrogate Model – How?</vt:lpstr>
      <vt:lpstr>Surrogate Model – How?</vt:lpstr>
      <vt:lpstr>Surrogate Model – Sampling</vt:lpstr>
      <vt:lpstr>Surrogate Model – Simulations</vt:lpstr>
      <vt:lpstr>Surrogate Model – Model Construction</vt:lpstr>
      <vt:lpstr>Surrogate Model – Active Learning</vt:lpstr>
      <vt:lpstr>Surrogate Model – Dataset Enrichment</vt:lpstr>
      <vt:lpstr>Surrogate Model – Takeaways</vt:lpstr>
      <vt:lpstr>Applications</vt:lpstr>
      <vt:lpstr>Conclusions</vt:lpstr>
      <vt:lpstr>Questions?</vt:lpstr>
    </vt:vector>
  </TitlesOfParts>
  <Company>BARC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Pritam Prakash Shete</dc:creator>
  <cp:lastModifiedBy>BARC</cp:lastModifiedBy>
  <cp:revision>1491</cp:revision>
  <dcterms:created xsi:type="dcterms:W3CDTF">2019-02-01T20:19:40Z</dcterms:created>
  <dcterms:modified xsi:type="dcterms:W3CDTF">2026-04-16T08:28:36Z</dcterms:modified>
</cp:coreProperties>
</file>