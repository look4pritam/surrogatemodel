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68" r:id="rId3"/>
    <p:sldId id="272" r:id="rId4"/>
    <p:sldId id="278" r:id="rId5"/>
    <p:sldId id="279" r:id="rId6"/>
    <p:sldId id="293" r:id="rId7"/>
    <p:sldId id="282" r:id="rId8"/>
    <p:sldId id="280" r:id="rId9"/>
    <p:sldId id="281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92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Surrogate Model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Computer Simulations</a:t>
            </a:r>
          </a:p>
          <a:p>
            <a:r>
              <a:rPr lang="en-US" dirty="0"/>
              <a:t>Surrogate Model – What?</a:t>
            </a:r>
          </a:p>
          <a:p>
            <a:r>
              <a:rPr lang="en-US" dirty="0"/>
              <a:t>Surrogate Model – Why?</a:t>
            </a:r>
          </a:p>
          <a:p>
            <a:r>
              <a:rPr lang="en-US" dirty="0"/>
              <a:t>Surrogate Model – Advantages</a:t>
            </a:r>
          </a:p>
          <a:p>
            <a:r>
              <a:rPr lang="en-US" dirty="0"/>
              <a:t>Surrogate Model – How?</a:t>
            </a:r>
          </a:p>
          <a:p>
            <a:r>
              <a:rPr lang="en-US" dirty="0"/>
              <a:t>Applications</a:t>
            </a:r>
          </a:p>
          <a:p>
            <a:r>
              <a:rPr lang="en-US" dirty="0"/>
              <a:t>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Engineering design </a:t>
            </a:r>
          </a:p>
          <a:p>
            <a:r>
              <a:rPr lang="en-US" dirty="0"/>
              <a:t>Computer simulations</a:t>
            </a:r>
          </a:p>
          <a:p>
            <a:r>
              <a:rPr lang="en-US" dirty="0"/>
              <a:t>Simulations evaluate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Design parameters</a:t>
            </a:r>
          </a:p>
          <a:p>
            <a:r>
              <a:rPr lang="en-US" dirty="0"/>
              <a:t>Problem</a:t>
            </a:r>
          </a:p>
          <a:p>
            <a:pPr lvl="1"/>
            <a:r>
              <a:rPr lang="en-US" dirty="0"/>
              <a:t>High computational cost</a:t>
            </a:r>
          </a:p>
          <a:p>
            <a:pPr lvl="1"/>
            <a:r>
              <a:rPr lang="en-US" dirty="0"/>
              <a:t>Time consuming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Need faster alternatives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Computer Simulations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Simulations are required for</a:t>
            </a:r>
          </a:p>
          <a:p>
            <a:pPr lvl="1"/>
            <a:r>
              <a:rPr lang="en-US" dirty="0"/>
              <a:t>Sensitivity analysis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Risk analysis</a:t>
            </a:r>
          </a:p>
          <a:p>
            <a:r>
              <a:rPr lang="en-US" dirty="0"/>
              <a:t>Each scenario requires multiple simulation runs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Computer simulations are accurate.</a:t>
            </a:r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- What?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data driven approximation model</a:t>
            </a:r>
          </a:p>
          <a:p>
            <a:r>
              <a:rPr lang="en-US" dirty="0"/>
              <a:t>Mimics expensive simulations</a:t>
            </a:r>
          </a:p>
          <a:p>
            <a:r>
              <a:rPr lang="en-US" dirty="0"/>
              <a:t>Surrogate model is built using</a:t>
            </a:r>
          </a:p>
          <a:p>
            <a:pPr lvl="1"/>
            <a:r>
              <a:rPr lang="en-US" dirty="0"/>
              <a:t>Input parameters (X)</a:t>
            </a:r>
          </a:p>
          <a:p>
            <a:pPr lvl="1"/>
            <a:r>
              <a:rPr lang="en-US" dirty="0"/>
              <a:t>Simulation outputs (y)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Replaces simulation with a fast predictive model.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- Why?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Simulation runs  are often</a:t>
            </a:r>
          </a:p>
          <a:p>
            <a:pPr lvl="1"/>
            <a:r>
              <a:rPr lang="en-US" dirty="0"/>
              <a:t>Expensive</a:t>
            </a:r>
          </a:p>
          <a:p>
            <a:pPr lvl="1"/>
            <a:r>
              <a:rPr lang="en-US" dirty="0"/>
              <a:t>Takes days per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Computer simulations are costly and impractical at scale.</a:t>
            </a:r>
          </a:p>
        </p:txBody>
      </p:sp>
    </p:spTree>
    <p:extLst>
      <p:ext uri="{BB962C8B-B14F-4D97-AF65-F5344CB8AC3E}">
        <p14:creationId xmlns:p14="http://schemas.microsoft.com/office/powerpoint/2010/main" val="913340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Huge reduction in computation time</a:t>
            </a:r>
          </a:p>
          <a:p>
            <a:r>
              <a:rPr lang="en-US" dirty="0"/>
              <a:t>Real time analysis</a:t>
            </a:r>
          </a:p>
          <a:p>
            <a:r>
              <a:rPr lang="en-US" dirty="0"/>
              <a:t>Large scale optimization</a:t>
            </a:r>
          </a:p>
          <a:p>
            <a:r>
              <a:rPr lang="en-US" dirty="0"/>
              <a:t>Makes expensive tasks affordable</a:t>
            </a:r>
          </a:p>
          <a:p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Thousands of evaluations become feasible.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8389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How?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Run a few simulations</a:t>
            </a:r>
          </a:p>
          <a:p>
            <a:r>
              <a:rPr lang="en-US" dirty="0"/>
              <a:t>Train a statistical or machine learning model</a:t>
            </a:r>
          </a:p>
          <a:p>
            <a:r>
              <a:rPr lang="en-US" dirty="0"/>
              <a:t>Use model for predictions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Surrogate model approximates simulation output and replaces 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901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How?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Inputs </a:t>
            </a:r>
          </a:p>
          <a:p>
            <a:pPr lvl="1"/>
            <a:r>
              <a:rPr lang="en-US" dirty="0"/>
              <a:t>Design parameters (X</a:t>
            </a:r>
            <a:r>
              <a:rPr lang="en-US" baseline="-25000" dirty="0"/>
              <a:t>1</a:t>
            </a:r>
            <a:r>
              <a:rPr lang="en-US" dirty="0"/>
              <a:t>, X</a:t>
            </a:r>
            <a:r>
              <a:rPr lang="en-US" baseline="-25000" dirty="0"/>
              <a:t>2</a:t>
            </a:r>
            <a:r>
              <a:rPr lang="en-US" dirty="0"/>
              <a:t>, …, X</a:t>
            </a:r>
            <a:r>
              <a:rPr lang="en-US" baseline="-25000" dirty="0"/>
              <a:t>n</a:t>
            </a:r>
            <a:r>
              <a:rPr lang="en-US" dirty="0"/>
              <a:t>)</a:t>
            </a:r>
          </a:p>
          <a:p>
            <a:r>
              <a:rPr lang="en-US" dirty="0"/>
              <a:t>Simulation </a:t>
            </a:r>
          </a:p>
          <a:p>
            <a:pPr lvl="1"/>
            <a:r>
              <a:rPr lang="en-US" dirty="0"/>
              <a:t>Expensive  </a:t>
            </a:r>
          </a:p>
          <a:p>
            <a:pPr lvl="1"/>
            <a:r>
              <a:rPr lang="en-US" dirty="0"/>
              <a:t>f(X) = y</a:t>
            </a:r>
          </a:p>
          <a:p>
            <a:r>
              <a:rPr lang="en-US" dirty="0"/>
              <a:t>Surrogate</a:t>
            </a:r>
          </a:p>
          <a:p>
            <a:pPr lvl="1"/>
            <a:r>
              <a:rPr lang="en-US" dirty="0"/>
              <a:t>Learned model </a:t>
            </a:r>
          </a:p>
          <a:p>
            <a:pPr lvl="1"/>
            <a:r>
              <a:rPr lang="en-US" dirty="0"/>
              <a:t>f'(X) ≈ 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Surrogate model is faster, cheaper, and scalable.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719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Characteristics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</a:t>
            </a:r>
          </a:p>
          <a:p>
            <a:pPr lvl="1"/>
            <a:r>
              <a:rPr lang="en-US" dirty="0"/>
              <a:t>Metamodel</a:t>
            </a:r>
          </a:p>
          <a:p>
            <a:pPr lvl="1"/>
            <a:r>
              <a:rPr lang="en-US" dirty="0"/>
              <a:t>Emulator</a:t>
            </a:r>
          </a:p>
          <a:p>
            <a:r>
              <a:rPr lang="en-US" dirty="0"/>
              <a:t>Built using sampled data</a:t>
            </a:r>
          </a:p>
          <a:p>
            <a:r>
              <a:rPr lang="en-US" dirty="0"/>
              <a:t>Requires:</a:t>
            </a:r>
          </a:p>
          <a:p>
            <a:pPr lvl="1"/>
            <a:r>
              <a:rPr lang="en-US" dirty="0"/>
              <a:t>Careful data collection</a:t>
            </a:r>
          </a:p>
          <a:p>
            <a:pPr lvl="1"/>
            <a:r>
              <a:rPr lang="en-US" dirty="0"/>
              <a:t>Model validation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000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How?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Sampling – Design of Experiments</a:t>
            </a:r>
          </a:p>
          <a:p>
            <a:r>
              <a:rPr lang="en-US" dirty="0"/>
              <a:t>Run simulations</a:t>
            </a:r>
          </a:p>
          <a:p>
            <a:r>
              <a:rPr lang="en-US" dirty="0"/>
              <a:t>Train surrogate model</a:t>
            </a:r>
          </a:p>
          <a:p>
            <a:r>
              <a:rPr lang="en-US" dirty="0"/>
              <a:t>Improve using active learning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914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Sampling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input points carefully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Cover entire parameter space</a:t>
            </a:r>
          </a:p>
          <a:p>
            <a:r>
              <a:rPr lang="en-US" dirty="0"/>
              <a:t>Technique</a:t>
            </a:r>
          </a:p>
          <a:p>
            <a:pPr lvl="1"/>
            <a:r>
              <a:rPr lang="en-US" dirty="0"/>
              <a:t>Latin Hypercube Sampling</a:t>
            </a:r>
          </a:p>
          <a:p>
            <a:r>
              <a:rPr lang="en-US" dirty="0"/>
              <a:t>Ensure representative dataset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846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Simulations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Run simulations for selected inputs</a:t>
            </a:r>
          </a:p>
          <a:p>
            <a:r>
              <a:rPr lang="en-US" dirty="0"/>
              <a:t>Collect</a:t>
            </a:r>
          </a:p>
          <a:p>
            <a:pPr lvl="1"/>
            <a:r>
              <a:rPr lang="en-US" dirty="0"/>
              <a:t>Input and Output pairs (X, y)</a:t>
            </a:r>
          </a:p>
          <a:p>
            <a:r>
              <a:rPr lang="en-US" dirty="0"/>
              <a:t>Simulation dataset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949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Surrogate Model – Model Construction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 Machine Learning model on dataset</a:t>
            </a:r>
          </a:p>
          <a:p>
            <a:r>
              <a:rPr lang="en-US" dirty="0"/>
              <a:t>Use</a:t>
            </a:r>
          </a:p>
          <a:p>
            <a:pPr lvl="1"/>
            <a:r>
              <a:rPr lang="en-US" dirty="0"/>
              <a:t>Validation</a:t>
            </a:r>
          </a:p>
          <a:p>
            <a:pPr lvl="1"/>
            <a:r>
              <a:rPr lang="en-US" dirty="0"/>
              <a:t>Model selection</a:t>
            </a:r>
          </a:p>
          <a:p>
            <a:r>
              <a:rPr lang="en-US" dirty="0"/>
              <a:t>Improve using</a:t>
            </a:r>
          </a:p>
          <a:p>
            <a:pPr lvl="1"/>
            <a:r>
              <a:rPr lang="en-US" dirty="0"/>
              <a:t>Bagging</a:t>
            </a:r>
          </a:p>
          <a:p>
            <a:pPr lvl="1"/>
            <a:r>
              <a:rPr lang="en-US"/>
              <a:t>Boosting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7100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Active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Add new samples iteratively</a:t>
            </a:r>
          </a:p>
          <a:p>
            <a:r>
              <a:rPr lang="en-US" dirty="0"/>
              <a:t>Focus on</a:t>
            </a:r>
          </a:p>
          <a:p>
            <a:pPr lvl="1"/>
            <a:r>
              <a:rPr lang="en-US" dirty="0"/>
              <a:t>Uncertain regions</a:t>
            </a:r>
          </a:p>
          <a:p>
            <a:pPr lvl="1"/>
            <a:r>
              <a:rPr lang="en-US" dirty="0"/>
              <a:t>Optimum zones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Model improves progressively</a:t>
            </a:r>
          </a:p>
        </p:txBody>
      </p:sp>
    </p:spTree>
    <p:extLst>
      <p:ext uri="{BB962C8B-B14F-4D97-AF65-F5344CB8AC3E}">
        <p14:creationId xmlns:p14="http://schemas.microsoft.com/office/powerpoint/2010/main" val="2205157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Surrogate Model – Dataset Enrichment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new simulation results</a:t>
            </a:r>
          </a:p>
          <a:p>
            <a:r>
              <a:rPr lang="en-US" dirty="0"/>
              <a:t>Retrain model</a:t>
            </a:r>
          </a:p>
          <a:p>
            <a:r>
              <a:rPr lang="en-US" dirty="0"/>
              <a:t>Repeat until</a:t>
            </a:r>
          </a:p>
          <a:p>
            <a:pPr lvl="1"/>
            <a:r>
              <a:rPr lang="en-US" dirty="0"/>
              <a:t>Desired accuracy achieved</a:t>
            </a:r>
          </a:p>
        </p:txBody>
      </p:sp>
    </p:spTree>
    <p:extLst>
      <p:ext uri="{BB962C8B-B14F-4D97-AF65-F5344CB8AC3E}">
        <p14:creationId xmlns:p14="http://schemas.microsoft.com/office/powerpoint/2010/main" val="16670228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Takeaways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Simulations are expensive but essential</a:t>
            </a:r>
          </a:p>
          <a:p>
            <a:r>
              <a:rPr lang="en-US" dirty="0"/>
              <a:t>Surrogate models</a:t>
            </a:r>
          </a:p>
          <a:p>
            <a:pPr lvl="1"/>
            <a:r>
              <a:rPr lang="en-US" dirty="0"/>
              <a:t>Approximate simulations</a:t>
            </a:r>
          </a:p>
          <a:p>
            <a:pPr lvl="1"/>
            <a:r>
              <a:rPr lang="en-US" dirty="0"/>
              <a:t>Reduce cost drastically</a:t>
            </a:r>
          </a:p>
          <a:p>
            <a:r>
              <a:rPr lang="en-US" dirty="0"/>
              <a:t>Based on</a:t>
            </a:r>
          </a:p>
          <a:p>
            <a:pPr lvl="1"/>
            <a:r>
              <a:rPr lang="en-US" dirty="0"/>
              <a:t>Machine learning</a:t>
            </a:r>
          </a:p>
          <a:p>
            <a:pPr lvl="1"/>
            <a:r>
              <a:rPr lang="en-US" dirty="0"/>
              <a:t>Active learning</a:t>
            </a:r>
          </a:p>
          <a:p>
            <a:r>
              <a:rPr lang="en-US" dirty="0"/>
              <a:t>Enable</a:t>
            </a:r>
          </a:p>
          <a:p>
            <a:pPr lvl="1"/>
            <a:r>
              <a:rPr lang="en-US" dirty="0"/>
              <a:t>Faster design cycles</a:t>
            </a:r>
          </a:p>
        </p:txBody>
      </p:sp>
    </p:spTree>
    <p:extLst>
      <p:ext uri="{BB962C8B-B14F-4D97-AF65-F5344CB8AC3E}">
        <p14:creationId xmlns:p14="http://schemas.microsoft.com/office/powerpoint/2010/main" val="4042477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Aerospace design</a:t>
            </a:r>
          </a:p>
          <a:p>
            <a:r>
              <a:rPr lang="en-US" dirty="0"/>
              <a:t>Automotive engineering</a:t>
            </a:r>
          </a:p>
          <a:p>
            <a:r>
              <a:rPr lang="en-US" dirty="0"/>
              <a:t>Product optimization</a:t>
            </a:r>
          </a:p>
          <a:p>
            <a:r>
              <a:rPr lang="en-US" dirty="0"/>
              <a:t>Risk analysis</a:t>
            </a:r>
          </a:p>
          <a:p>
            <a:r>
              <a:rPr lang="en-US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22856917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Conclusions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modeling bridges</a:t>
            </a:r>
          </a:p>
          <a:p>
            <a:pPr lvl="1"/>
            <a:r>
              <a:rPr lang="en-US" dirty="0"/>
              <a:t>Simulation and Machine Learning</a:t>
            </a:r>
          </a:p>
          <a:p>
            <a:r>
              <a:rPr lang="en-US" dirty="0"/>
              <a:t>Critical for</a:t>
            </a:r>
          </a:p>
          <a:p>
            <a:pPr lvl="1"/>
            <a:r>
              <a:rPr lang="en-US" dirty="0"/>
              <a:t>Modern engineering design</a:t>
            </a:r>
          </a:p>
          <a:p>
            <a:pPr lvl="1"/>
            <a:r>
              <a:rPr lang="en-US" dirty="0"/>
              <a:t>High performance computing problems</a:t>
            </a:r>
          </a:p>
        </p:txBody>
      </p:sp>
    </p:spTree>
    <p:extLst>
      <p:ext uri="{BB962C8B-B14F-4D97-AF65-F5344CB8AC3E}">
        <p14:creationId xmlns:p14="http://schemas.microsoft.com/office/powerpoint/2010/main" val="1922653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2216</TotalTime>
  <Words>427</Words>
  <Application>Microsoft Office PowerPoint</Application>
  <PresentationFormat>On-screen Show (4:3)</PresentationFormat>
  <Paragraphs>147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Surrogate Model</vt:lpstr>
      <vt:lpstr>Topics</vt:lpstr>
      <vt:lpstr>Introduction</vt:lpstr>
      <vt:lpstr>Computer Simulations</vt:lpstr>
      <vt:lpstr>Surrogate Model - What?</vt:lpstr>
      <vt:lpstr>Surrogate Model - Why?</vt:lpstr>
      <vt:lpstr>Surrogate Model – Advantages</vt:lpstr>
      <vt:lpstr>Surrogate Model – How?</vt:lpstr>
      <vt:lpstr>Surrogate Model – How?</vt:lpstr>
      <vt:lpstr>Surrogate Model – Characteristics</vt:lpstr>
      <vt:lpstr>Surrogate Model – How?</vt:lpstr>
      <vt:lpstr>Surrogate Model – Sampling</vt:lpstr>
      <vt:lpstr>Surrogate Model – Simulations</vt:lpstr>
      <vt:lpstr>Surrogate Model – Model Construction</vt:lpstr>
      <vt:lpstr>Surrogate Model – Active Learning</vt:lpstr>
      <vt:lpstr>Surrogate Model – Dataset Enrichment</vt:lpstr>
      <vt:lpstr>Surrogate Model – Takeaways</vt:lpstr>
      <vt:lpstr>Applications</vt:lpstr>
      <vt:lpstr>Conclusions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1482</cp:revision>
  <dcterms:created xsi:type="dcterms:W3CDTF">2019-02-01T20:19:40Z</dcterms:created>
  <dcterms:modified xsi:type="dcterms:W3CDTF">2026-04-16T08:14:18Z</dcterms:modified>
</cp:coreProperties>
</file>